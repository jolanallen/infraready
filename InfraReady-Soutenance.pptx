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978c3bd-b4a5-c0cb-3ce4-456bfde3c33e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Phases A à H" id="{145195ee-2290-dca5-f6a2-eb81bf99ce63}">
          <p14:sldIdLst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Séances 4 et 6" id="{80cec692-e96d-fd20-5d66-8200b1097450}">
          <p14:sldIdLst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Bilan" id="{0238ec63-febb-2fd2-0ed5-c94783107a02}">
          <p14:sldIdLst>
            <p14:sldId id="275"/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Présentation du projet fil rouge InfraReady : un laboratoire de trois serveurs sur Proxmox, configuré par Ansible, supervisé par Prometheus et Grafana, versionné sur GitHub avec une intégration continue. Durée visée : 20 minutes, puis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InfraReady est une PME fictive qui administre ses serveurs à la main. Les quatre objectifs du sujet : standardiser, automatiser, superviser, tracer. Les contraintes : isolation, secrets chiffrés, réversibilité par snapshots.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chiffres clés. Insister sur les 104 preuves : chaque résultat du rapport renvoie à une sortie de commande horodatée, et les premiers essais en échec sont conservés.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VM sur l'hôte Proxmox corsair1. Le pont vmbr1 n'a pas de carte physique ; l'hôte fait passerelle avec une traduction d'adresses et un filtrage nftables. Écart au sujet : Proxmox au lieu de VMware Workstation, à faire valider.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cycle appliqué à chaque changement. Le point clé : le second passage d'un playbook est un test, pas une formalité. Depuis le 20/10, aucune modification n'est poussée directement sur 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planning reconstitué depuis le journal des changements : les huit phases le 19/10, la séance 4 et la relecture des PR le 20/10, la séance 6 le 23/10.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Première partie : les huit phases du sujet, chacune avec ses résultats mesurés et ses difficultés.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A : installations entièrement automatiques ; le test d'isolation compare le même ping depuis le labo et depuis l'hôte. Phase B : forêt créée par Ansible, NTP externe pour Kerberos. Phase C : on n'a formaté le disque qu'après cinq contrôles.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D, portée par Kenzi : inventaire, SSH et WinRM, vault chiffré. Chaque playbook est rejoué deux fois. Exemple de défaut révélé par le second passage : le PTR du contrôleur de domaine.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playbooks de maintenance refusent de continuer si un pré-contrôle échoue. L'anecdote Windows Update illustre la démarche : croiser plusieurs sources avant de conclure, puis décider et documenter.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Prometheus sur OPS01 collecte node_exporter et windows_exporter, ports ouverts à OPS01 seulement. Démonstration en phase F : l'arrêt de l'exporter de LINUX01 déclenche InstanceDown en une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pipeline GitHub Actions a quatre jobs. Il tourne sur chaque push et chaque demande de fusion ; le chef de projet relit puis fusionne. On ne prétend pas que la CI déploie : un runner GitHub ne peut pas joindre le laboratoire.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Incident contrôlé : un changement de configuration qui passe nginx -t mais casse le site. Diagnostic par élimination en moins d'une minute. Point fort : la première correction a échoué, ce qui a révélé un vrai défaut d'ordre d'exécution dans le playbook.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Deuxième partie : les travaux pratiques des séances 4 et 6, orientés exploitation.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six scénarios du support, chacun introduit seul, diagnostiqué avec la procédure commune puis annulé. Deux scripts de vérification en lecture seule avec des codes de sortie 0, 1,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Séance 6 : on commence par une fiche d'état initial datée. Le tableau de bord passe en version 3 ; le point important du support est de ne pas confondre une donnée absente avec une valeur nulle.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timer systemd exécute check-nginx.sh chaque minute et publie son résultat pour Prometheus. Test 1 : nginx arrêté, l'alerte se déclenche alors que l'exporter reste joignable — c'était l'angle mort de la phase H. Test 2 : on arrête le timer lui-même.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Trouvé grâce à l'état initial, pas préparé. La supervision ne pouvait pas le voir : Prometheus s'arrête avec l'hôte. La reproduction a été faite sans arrêt forcé, donc sans risque. La correction est prête mais nous ne modifions pas le DC sans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contrôle de santé couvre les trois serveurs en lecture seule et sert de critère d'arrêt pour la maintenance : on compare les rapports avant et après. Défi choisi : les quotas, avec un garde-fou sur le numéro de série du disque.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Dernière partie : enseignements, limites, points ouverts.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quarantaine de difficultés, toutes documentées. Le fil conducteur : la plupart des défauts ont été trouvés en vérifiant qu'une vérification pouvait échouer.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Nous présentons les limites et ce qui reste à faire tels quels, sans les cacher. Le point ouvert principal est compris et sa correction est prête.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 : InfraReady est passée d'une administration manuelle à un laboratoire dont l'état est reproductible depuis le dépôt, dont la maintenance s'arrête d'elle-même si les conditions ne sont pas réunies, et dont les anomalies sont visibles avant les utilisateurs. Merci, place aux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91440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Titre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246120"/>
            <a:ext cx="91440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Sous-titre</a:t>
            </a: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286000" y="2514600"/>
            <a:ext cx="91440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Section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286000" y="3520440"/>
            <a:ext cx="91440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Description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Titre</a:t>
            </a: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InfraReady — Soutenance du projet fil rouge · B3 Cybersécurité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InfraReady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2461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Standardiser, automatiser et superviser une infrastructure Linux / Windows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MIR Mahan · Jolan Allen (chef de projet) · Kenzi Bendjelloul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Bachelor 3 Cybersécurité — projet fil rouge — 23 octobre 2026</a:t>
            </a:r>
            <a:endParaRPr lang="en-US" sz="1600" dirty="0"/>
          </a:p>
        </p:txBody>
      </p:sp>
      <p:sp>
        <p:nvSpPr>
          <p:cNvPr id="5" name="pastille windows"/>
          <p:cNvSpPr/>
          <p:nvPr/>
        </p:nvSpPr>
        <p:spPr>
          <a:xfrm>
            <a:off x="9966960" y="14630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window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8410" y="1634490"/>
            <a:ext cx="342900" cy="342900"/>
          </a:xfrm>
          <a:prstGeom prst="rect">
            <a:avLst/>
          </a:prstGeom>
        </p:spPr>
      </p:pic>
      <p:sp>
        <p:nvSpPr>
          <p:cNvPr id="7" name="pastille linux"/>
          <p:cNvSpPr/>
          <p:nvPr/>
        </p:nvSpPr>
        <p:spPr>
          <a:xfrm>
            <a:off x="10835640" y="1874520"/>
            <a:ext cx="685800" cy="6858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8" name="icône linux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7090" y="2045970"/>
            <a:ext cx="342900" cy="342900"/>
          </a:xfrm>
          <a:prstGeom prst="rect">
            <a:avLst/>
          </a:prstGeom>
        </p:spPr>
      </p:pic>
      <p:sp>
        <p:nvSpPr>
          <p:cNvPr id="9" name="pastille engrenages"/>
          <p:cNvSpPr/>
          <p:nvPr/>
        </p:nvSpPr>
        <p:spPr>
          <a:xfrm>
            <a:off x="9966960" y="23317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ône engrenage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8410" y="2503170"/>
            <a:ext cx="342900" cy="342900"/>
          </a:xfrm>
          <a:prstGeom prst="rect">
            <a:avLst/>
          </a:prstGeom>
        </p:spPr>
      </p:pic>
      <p:sp>
        <p:nvSpPr>
          <p:cNvPr id="11" name="pastille courbe"/>
          <p:cNvSpPr/>
          <p:nvPr/>
        </p:nvSpPr>
        <p:spPr>
          <a:xfrm>
            <a:off x="10835640" y="2743200"/>
            <a:ext cx="685800" cy="6858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icône courb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7090" y="2914650"/>
            <a:ext cx="342900" cy="342900"/>
          </a:xfrm>
          <a:prstGeom prst="rect">
            <a:avLst/>
          </a:prstGeom>
        </p:spPr>
      </p:pic>
      <p:sp>
        <p:nvSpPr>
          <p:cNvPr id="13" name="pastille github"/>
          <p:cNvSpPr/>
          <p:nvPr/>
        </p:nvSpPr>
        <p:spPr>
          <a:xfrm>
            <a:off x="9966960" y="32004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cône github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8410" y="3371850"/>
            <a:ext cx="3429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 besoin : d'une administration manuelle à un parc maîtrisé</a:t>
            </a:r>
            <a:endParaRPr lang="en-US" sz="3000" dirty="0"/>
          </a:p>
        </p:txBody>
      </p:sp>
      <p:sp>
        <p:nvSpPr>
          <p:cNvPr id="3" name="carte Standardiser"/>
          <p:cNvSpPr/>
          <p:nvPr/>
        </p:nvSpPr>
        <p:spPr>
          <a:xfrm>
            <a:off x="548640" y="1554480"/>
            <a:ext cx="2606040" cy="35661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pastille engrenages"/>
          <p:cNvSpPr/>
          <p:nvPr/>
        </p:nvSpPr>
        <p:spPr>
          <a:xfrm>
            <a:off x="822960" y="18288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ône engrenage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0116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743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Standardiser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4612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Mêmes configurations partout, décrites dans le dépôt et non sur les serveurs</a:t>
            </a:r>
            <a:endParaRPr lang="en-US" sz="1500" dirty="0"/>
          </a:p>
        </p:txBody>
      </p:sp>
      <p:sp>
        <p:nvSpPr>
          <p:cNvPr id="8" name="carte Automatiser"/>
          <p:cNvSpPr/>
          <p:nvPr/>
        </p:nvSpPr>
        <p:spPr>
          <a:xfrm>
            <a:off x="3383280" y="1554480"/>
            <a:ext cx="2606040" cy="35661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pastille robot"/>
          <p:cNvSpPr/>
          <p:nvPr/>
        </p:nvSpPr>
        <p:spPr>
          <a:xfrm>
            <a:off x="3657600" y="18288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ône robo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20116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57600" y="2743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Automatiser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657600" y="324612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Installations sans saisie, playbooks Ansible rejouables et idempotents</a:t>
            </a:r>
            <a:endParaRPr lang="en-US" sz="1500" dirty="0"/>
          </a:p>
        </p:txBody>
      </p:sp>
      <p:sp>
        <p:nvSpPr>
          <p:cNvPr id="13" name="carte Superviser"/>
          <p:cNvSpPr/>
          <p:nvPr/>
        </p:nvSpPr>
        <p:spPr>
          <a:xfrm>
            <a:off x="6217920" y="1554480"/>
            <a:ext cx="2606040" cy="35661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pastille courbe"/>
          <p:cNvSpPr/>
          <p:nvPr/>
        </p:nvSpPr>
        <p:spPr>
          <a:xfrm>
            <a:off x="6492240" y="18288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ône courb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01168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92240" y="2743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Superviser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492240" y="324612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Voir une panne avant les utilisateurs : métriques, alertes, tableau de bord</a:t>
            </a:r>
            <a:endParaRPr lang="en-US" sz="1500" dirty="0"/>
          </a:p>
        </p:txBody>
      </p:sp>
      <p:sp>
        <p:nvSpPr>
          <p:cNvPr id="18" name="carte Tracer"/>
          <p:cNvSpPr/>
          <p:nvPr/>
        </p:nvSpPr>
        <p:spPr>
          <a:xfrm>
            <a:off x="9052560" y="1554480"/>
            <a:ext cx="2606040" cy="35661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pastille branche"/>
          <p:cNvSpPr/>
          <p:nvPr/>
        </p:nvSpPr>
        <p:spPr>
          <a:xfrm>
            <a:off x="9326880" y="18288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ône branch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201168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26880" y="2743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Tracer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9326880" y="324612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Chaque changement en Git, validé par la CI, avec une preuve horodatée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53949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Contrainte forte : laboratoire isolé du réseau domestique, aucun secret en clair, retour arrière possible à chaque étape.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 projet en chiffres</a:t>
            </a:r>
            <a:endParaRPr lang="en-US" sz="3000" dirty="0"/>
          </a:p>
        </p:txBody>
      </p:sp>
      <p:sp>
        <p:nvSpPr>
          <p:cNvPr id="3" name="chiffre serveurs"/>
          <p:cNvSpPr/>
          <p:nvPr/>
        </p:nvSpPr>
        <p:spPr>
          <a:xfrm>
            <a:off x="548640" y="1417320"/>
            <a:ext cx="34747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60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serveurs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535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WIN-DC01, LINUX01, OPS01</a:t>
            </a:r>
            <a:endParaRPr lang="en-US" sz="1400" dirty="0"/>
          </a:p>
        </p:txBody>
      </p:sp>
      <p:sp>
        <p:nvSpPr>
          <p:cNvPr id="7" name="chiffre playbooks Ansible"/>
          <p:cNvSpPr/>
          <p:nvPr/>
        </p:nvSpPr>
        <p:spPr>
          <a:xfrm>
            <a:off x="4297680" y="1417320"/>
            <a:ext cx="34747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72000" y="16002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560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playbooks Ansible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9535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2e passage changed=0</a:t>
            </a:r>
            <a:endParaRPr lang="en-US" sz="1400" dirty="0"/>
          </a:p>
        </p:txBody>
      </p:sp>
      <p:sp>
        <p:nvSpPr>
          <p:cNvPr id="11" name="chiffre règles d'alerte"/>
          <p:cNvSpPr/>
          <p:nvPr/>
        </p:nvSpPr>
        <p:spPr>
          <a:xfrm>
            <a:off x="8046720" y="1417320"/>
            <a:ext cx="34747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60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560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règles d'alerte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9535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dont 2 testées en séance 6</a:t>
            </a:r>
            <a:endParaRPr lang="en-US" sz="1400" dirty="0"/>
          </a:p>
        </p:txBody>
      </p:sp>
      <p:sp>
        <p:nvSpPr>
          <p:cNvPr id="15" name="chiffre preuves horodatées"/>
          <p:cNvSpPr/>
          <p:nvPr/>
        </p:nvSpPr>
        <p:spPr>
          <a:xfrm>
            <a:off x="548640" y="3794760"/>
            <a:ext cx="34747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22960" y="3977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104</a:t>
            </a:r>
            <a:endParaRPr lang="en-US" sz="60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937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preuves horodatées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3309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y compris les échecs</a:t>
            </a:r>
            <a:endParaRPr lang="en-US" sz="1400" dirty="0"/>
          </a:p>
        </p:txBody>
      </p:sp>
      <p:sp>
        <p:nvSpPr>
          <p:cNvPr id="19" name="chiffre demandes de fusion"/>
          <p:cNvSpPr/>
          <p:nvPr/>
        </p:nvSpPr>
        <p:spPr>
          <a:xfrm>
            <a:off x="4297680" y="3794760"/>
            <a:ext cx="34747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572000" y="3977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60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4937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demandes de fusion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53309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CI verte sur chacune</a:t>
            </a:r>
            <a:endParaRPr lang="en-US" sz="1400" dirty="0"/>
          </a:p>
        </p:txBody>
      </p:sp>
      <p:sp>
        <p:nvSpPr>
          <p:cNvPr id="23" name="chiffre secret dans l'historique"/>
          <p:cNvSpPr/>
          <p:nvPr/>
        </p:nvSpPr>
        <p:spPr>
          <a:xfrm>
            <a:off x="8046720" y="3794760"/>
            <a:ext cx="34747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321040" y="3977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6000" dirty="0"/>
          </a:p>
        </p:txBody>
      </p:sp>
      <p:sp>
        <p:nvSpPr>
          <p:cNvPr id="25" name="Text 23"/>
          <p:cNvSpPr txBox="1"/>
          <p:nvPr/>
        </p:nvSpPr>
        <p:spPr>
          <a:xfrm>
            <a:off x="8321040" y="4937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secret dans l'historique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8321040" y="53309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gitleaks en CI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Un laboratoire Proxmox isolé, trois rôles distincts</a:t>
            </a:r>
            <a:endParaRPr lang="en-US" sz="3000" dirty="0"/>
          </a:p>
        </p:txBody>
      </p:sp>
      <p:pic>
        <p:nvPicPr>
          <p:cNvPr id="3" name="schéma d'architecture" descr="/tmp/claude-1000/-home-mahan-Documents-Obsidian-Vault-InfraReady/5dd48d09-7792-4c45-86a2-777ed44444b8/scratchpad/deck/img/00-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732" y="1234440"/>
            <a:ext cx="5068455" cy="5074920"/>
          </a:xfrm>
          <a:prstGeom prst="rect">
            <a:avLst/>
          </a:prstGeom>
        </p:spPr>
      </p:pic>
      <p:sp>
        <p:nvSpPr>
          <p:cNvPr id="4" name="pastille windows"/>
          <p:cNvSpPr/>
          <p:nvPr/>
        </p:nvSpPr>
        <p:spPr>
          <a:xfrm>
            <a:off x="6126480" y="146304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cône window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1623060"/>
            <a:ext cx="320040" cy="3200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949440" y="1371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WIN-DC01 · 192.168.50.10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6949440" y="175564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Windows Server 2025 — Active Directory et DNS du domaine infraready.test</a:t>
            </a:r>
            <a:endParaRPr lang="en-US" sz="1500" dirty="0"/>
          </a:p>
        </p:txBody>
      </p:sp>
      <p:sp>
        <p:nvSpPr>
          <p:cNvPr id="8" name="pastille linux"/>
          <p:cNvSpPr/>
          <p:nvPr/>
        </p:nvSpPr>
        <p:spPr>
          <a:xfrm>
            <a:off x="6126480" y="2788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cône linux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94894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949440" y="2697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LINUX01 · 192.168.50.20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6949440" y="308152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Ubuntu 24.04 — site web nginx, disque de test /data</a:t>
            </a:r>
            <a:endParaRPr lang="en-US" sz="1500" dirty="0"/>
          </a:p>
        </p:txBody>
      </p:sp>
      <p:sp>
        <p:nvSpPr>
          <p:cNvPr id="12" name="pastille serveur"/>
          <p:cNvSpPr/>
          <p:nvPr/>
        </p:nvSpPr>
        <p:spPr>
          <a:xfrm>
            <a:off x="6126480" y="411480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3" name="icône serveur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4274820"/>
            <a:ext cx="320040" cy="32004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949440" y="4023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OPS01 · 192.168.50.30</a:t>
            </a:r>
            <a:endParaRPr lang="en-US" sz="1800" dirty="0"/>
          </a:p>
        </p:txBody>
      </p:sp>
      <p:sp>
        <p:nvSpPr>
          <p:cNvPr id="15" name="Text 9"/>
          <p:cNvSpPr txBox="1"/>
          <p:nvPr/>
        </p:nvSpPr>
        <p:spPr>
          <a:xfrm>
            <a:off x="6949440" y="440740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Ubuntu 24.04 — Ansible, Prometheus, Grafana : le poste d'exploitation</a:t>
            </a:r>
            <a:endParaRPr lang="en-US" sz="1500" dirty="0"/>
          </a:p>
        </p:txBody>
      </p:sp>
      <p:sp>
        <p:nvSpPr>
          <p:cNvPr id="16" name="carte isolation"/>
          <p:cNvSpPr/>
          <p:nvPr/>
        </p:nvSpPr>
        <p:spPr>
          <a:xfrm>
            <a:off x="6126480" y="5440680"/>
            <a:ext cx="54864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1"/>
          <p:cNvSpPr txBox="1"/>
          <p:nvPr/>
        </p:nvSpPr>
        <p:spPr>
          <a:xfrm>
            <a:off x="6309360" y="55321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Réseau 192.168.50.0/24 sur le pont vmbr1 : accès Internet par NAT, toute connexion vers le réseau domestique bloquée (nftables).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Notre méthode : le dépôt décrit le laboratoire</a:t>
            </a:r>
            <a:endParaRPr lang="en-US" sz="3000" dirty="0"/>
          </a:p>
        </p:txBody>
      </p:sp>
      <p:sp>
        <p:nvSpPr>
          <p:cNvPr id="3" name="pastille sablier"/>
          <p:cNvSpPr/>
          <p:nvPr/>
        </p:nvSpPr>
        <p:spPr>
          <a:xfrm>
            <a:off x="1051560" y="173736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ône sabli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5870" y="1931670"/>
            <a:ext cx="388620" cy="388620"/>
          </a:xfrm>
          <a:prstGeom prst="rect">
            <a:avLst/>
          </a:prstGeom>
        </p:spPr>
      </p:pic>
      <p:sp>
        <p:nvSpPr>
          <p:cNvPr id="5" name="flèche 0"/>
          <p:cNvSpPr/>
          <p:nvPr/>
        </p:nvSpPr>
        <p:spPr>
          <a:xfrm>
            <a:off x="1965960" y="1984248"/>
            <a:ext cx="411480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6974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Snapshot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1089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Retour arrière avant chaque changement</a:t>
            </a:r>
            <a:endParaRPr lang="en-US" sz="1400" dirty="0"/>
          </a:p>
        </p:txBody>
      </p:sp>
      <p:sp>
        <p:nvSpPr>
          <p:cNvPr id="8" name="pastille robot"/>
          <p:cNvSpPr/>
          <p:nvPr/>
        </p:nvSpPr>
        <p:spPr>
          <a:xfrm>
            <a:off x="2935224" y="173736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cône robo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9534" y="1931670"/>
            <a:ext cx="388620" cy="388620"/>
          </a:xfrm>
          <a:prstGeom prst="rect">
            <a:avLst/>
          </a:prstGeom>
        </p:spPr>
      </p:pic>
      <p:sp>
        <p:nvSpPr>
          <p:cNvPr id="10" name="flèche 1"/>
          <p:cNvSpPr/>
          <p:nvPr/>
        </p:nvSpPr>
        <p:spPr>
          <a:xfrm>
            <a:off x="3849624" y="1984248"/>
            <a:ext cx="411480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2432304" y="26974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Ansible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2432304" y="31089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Réaliser depuis OPS01, jamais à la main</a:t>
            </a:r>
            <a:endParaRPr lang="en-US" sz="1400" dirty="0"/>
          </a:p>
        </p:txBody>
      </p:sp>
      <p:sp>
        <p:nvSpPr>
          <p:cNvPr id="13" name="pastille check"/>
          <p:cNvSpPr/>
          <p:nvPr/>
        </p:nvSpPr>
        <p:spPr>
          <a:xfrm>
            <a:off x="4818888" y="1737360"/>
            <a:ext cx="777240" cy="7772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4" name="icône che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3198" y="1931670"/>
            <a:ext cx="388620" cy="388620"/>
          </a:xfrm>
          <a:prstGeom prst="rect">
            <a:avLst/>
          </a:prstGeom>
        </p:spPr>
      </p:pic>
      <p:sp>
        <p:nvSpPr>
          <p:cNvPr id="15" name="flèche 2"/>
          <p:cNvSpPr/>
          <p:nvPr/>
        </p:nvSpPr>
        <p:spPr>
          <a:xfrm>
            <a:off x="5733288" y="1984248"/>
            <a:ext cx="411480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4315968" y="26974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2e passage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4315968" y="31089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changed=0 : l'état est stable</a:t>
            </a:r>
            <a:endParaRPr lang="en-US" sz="1400" dirty="0"/>
          </a:p>
        </p:txBody>
      </p:sp>
      <p:sp>
        <p:nvSpPr>
          <p:cNvPr id="18" name="pastille fichier"/>
          <p:cNvSpPr/>
          <p:nvPr/>
        </p:nvSpPr>
        <p:spPr>
          <a:xfrm>
            <a:off x="6702552" y="173736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cône fichier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6862" y="1931670"/>
            <a:ext cx="388620" cy="388620"/>
          </a:xfrm>
          <a:prstGeom prst="rect">
            <a:avLst/>
          </a:prstGeom>
        </p:spPr>
      </p:pic>
      <p:sp>
        <p:nvSpPr>
          <p:cNvPr id="20" name="flèche 3"/>
          <p:cNvSpPr/>
          <p:nvPr/>
        </p:nvSpPr>
        <p:spPr>
          <a:xfrm>
            <a:off x="7616952" y="1984248"/>
            <a:ext cx="411480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199632" y="26974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Preuve P-xx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6199632" y="31089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Sortie horodatée, échecs compris</a:t>
            </a:r>
            <a:endParaRPr lang="en-US" sz="1400" dirty="0"/>
          </a:p>
        </p:txBody>
      </p:sp>
      <p:sp>
        <p:nvSpPr>
          <p:cNvPr id="23" name="pastille branche"/>
          <p:cNvSpPr/>
          <p:nvPr/>
        </p:nvSpPr>
        <p:spPr>
          <a:xfrm>
            <a:off x="8586216" y="173736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icône branch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0526" y="1931670"/>
            <a:ext cx="388620" cy="388620"/>
          </a:xfrm>
          <a:prstGeom prst="rect">
            <a:avLst/>
          </a:prstGeom>
        </p:spPr>
      </p:pic>
      <p:sp>
        <p:nvSpPr>
          <p:cNvPr id="25" name="flèche 4"/>
          <p:cNvSpPr/>
          <p:nvPr/>
        </p:nvSpPr>
        <p:spPr>
          <a:xfrm>
            <a:off x="9500616" y="1984248"/>
            <a:ext cx="411480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8083296" y="26974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 + CI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8083296" y="31089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 sujet, 1 branche, lint et secrets</a:t>
            </a:r>
            <a:endParaRPr lang="en-US" sz="1400" dirty="0"/>
          </a:p>
        </p:txBody>
      </p:sp>
      <p:sp>
        <p:nvSpPr>
          <p:cNvPr id="28" name="pastille loupe"/>
          <p:cNvSpPr/>
          <p:nvPr/>
        </p:nvSpPr>
        <p:spPr>
          <a:xfrm>
            <a:off x="10469880" y="173736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icône loup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4190" y="1931670"/>
            <a:ext cx="388620" cy="38862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9966960" y="26974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Relecture</a:t>
            </a:r>
            <a:endParaRPr lang="en-US" sz="1700" dirty="0"/>
          </a:p>
        </p:txBody>
      </p:sp>
      <p:sp>
        <p:nvSpPr>
          <p:cNvPr id="31" name="Text 23"/>
          <p:cNvSpPr txBox="1"/>
          <p:nvPr/>
        </p:nvSpPr>
        <p:spPr>
          <a:xfrm>
            <a:off x="9966960" y="31089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Fusion par le chef de projet</a:t>
            </a:r>
            <a:endParaRPr lang="en-US" sz="1400" dirty="0"/>
          </a:p>
        </p:txBody>
      </p:sp>
      <p:sp>
        <p:nvSpPr>
          <p:cNvPr id="32" name="carte principe"/>
          <p:cNvSpPr/>
          <p:nvPr/>
        </p:nvSpPr>
        <p:spPr>
          <a:xfrm>
            <a:off x="548640" y="4434840"/>
            <a:ext cx="11094415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Text 25"/>
          <p:cNvSpPr txBox="1"/>
          <p:nvPr/>
        </p:nvSpPr>
        <p:spPr>
          <a:xfrm>
            <a:off x="868680" y="4663440"/>
            <a:ext cx="104543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Une modification faite à la main est rejouée en Ansible.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Si le second passage n'est pas à changed=0, ce n'est pas terminé : on diagnostique et on corrige le playbook. La plupart de nos défauts ont été trouvés ainsi.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Planning réel : trois journées de travail</a:t>
            </a:r>
            <a:endParaRPr lang="en-US" sz="3000" dirty="0"/>
          </a:p>
        </p:txBody>
      </p:sp>
      <p:pic>
        <p:nvPicPr>
          <p:cNvPr id="3" name="planning Gantt" descr="/tmp/claude-1000/-home-mahan-Documents-Obsidian-Vault-InfraReady/5dd48d09-7792-4c45-86a2-777ed44444b8/scratchpad/deck/img/00-plan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6714" y="1188720"/>
            <a:ext cx="9238268" cy="457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943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19/10 : phases A à H · 20/10 : séance 4 et validation des PR · 23/10 : séance 6 (en rouge) et livrables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286000" y="251460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Réalisation — phases A à H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286000" y="35204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Installation, Windows, Linux, Ansible, maintenance, supervision, CI, incident</a:t>
            </a:r>
            <a:endParaRPr lang="en-US" sz="1800" dirty="0"/>
          </a:p>
        </p:txBody>
      </p:sp>
      <p:sp>
        <p:nvSpPr>
          <p:cNvPr id="4" name="pastille outils"/>
          <p:cNvSpPr/>
          <p:nvPr/>
        </p:nvSpPr>
        <p:spPr>
          <a:xfrm>
            <a:off x="548640" y="2606040"/>
            <a:ext cx="1371600" cy="13716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ône outil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2948940"/>
            <a:ext cx="685800" cy="685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A–C : un socle installé sans saisie manuelle</a:t>
            </a:r>
            <a:endParaRPr lang="en-US" sz="3000" dirty="0"/>
          </a:p>
        </p:txBody>
      </p:sp>
      <p:sp>
        <p:nvSpPr>
          <p:cNvPr id="3" name="pastille reseau"/>
          <p:cNvSpPr/>
          <p:nvPr/>
        </p:nvSpPr>
        <p:spPr>
          <a:xfrm>
            <a:off x="548640" y="14173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ône reseau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002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13258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A · Installation et réseau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1764792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Ubuntu autoinstall et Windows autounattend ; isolation vérifiée : le réseau domestique est bloqué depuis le labo mais joignable depuis l'hôte</a:t>
            </a:r>
            <a:endParaRPr lang="en-US" sz="1500" dirty="0"/>
          </a:p>
        </p:txBody>
      </p:sp>
      <p:sp>
        <p:nvSpPr>
          <p:cNvPr id="7" name="pastille windows"/>
          <p:cNvSpPr/>
          <p:nvPr/>
        </p:nvSpPr>
        <p:spPr>
          <a:xfrm>
            <a:off x="548640" y="301752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8" name="icône window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0040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29260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B · Active Directory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1508760" y="3364992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Forêt infraready.test, dcdiag : 10 tests fonctionnels réussis ; 2 groupes, 4 comptes, partage en moindre privilège</a:t>
            </a:r>
            <a:endParaRPr lang="en-US" sz="1500" dirty="0"/>
          </a:p>
        </p:txBody>
      </p:sp>
      <p:sp>
        <p:nvSpPr>
          <p:cNvPr id="11" name="pastille linux"/>
          <p:cNvSpPr/>
          <p:nvPr/>
        </p:nvSpPr>
        <p:spPr>
          <a:xfrm>
            <a:off x="548640" y="46177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ône linux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80060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08760" y="45262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C · Administration Linux</a:t>
            </a:r>
            <a:endParaRPr lang="en-US" sz="1900" dirty="0"/>
          </a:p>
        </p:txBody>
      </p:sp>
      <p:sp>
        <p:nvSpPr>
          <p:cNvPr id="14" name="Text 9"/>
          <p:cNvSpPr txBox="1"/>
          <p:nvPr/>
        </p:nvSpPr>
        <p:spPr>
          <a:xfrm>
            <a:off x="1508760" y="4965192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Comptes et droits par groupe, nginx, disque de test identifié par son numéro de série avant formatage</a:t>
            </a:r>
            <a:endParaRPr lang="en-US" sz="1500" dirty="0"/>
          </a:p>
        </p:txBody>
      </p:sp>
      <p:pic>
        <p:nvPicPr>
          <p:cNvPr id="15" name="capture Server Manager" descr="/tmp/claude-1000/-home-mahan-Documents-Obsidian-Vault-InfraReady/5dd48d09-7792-4c45-86a2-777ed44444b8/scratchpad/deck/img/P-03-win-dc01-installe-server-manag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785937"/>
            <a:ext cx="5257800" cy="328612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400800" y="562356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WIN-DC01 installé automatiquement (P-03)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 : des playbooks rejouables, des secrets chiffrés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9494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29184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Playbook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Cible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2e passage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windows_adds.yml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WIN-DC01 — forêt AD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changed=0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windows_base.yml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WIN-DC01 — objets, partage, DNS, exporter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changed=0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linux_base.yml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LINUX01 — comptes, nginx, pare-feu, timer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changed=0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ops01_monitoring.yml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OPS01 — Prometheus, Grafana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changed=0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controle_sante.yml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3 serveurs — lecture seule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changed=0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linux_quotas.yml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LINUX01 — quotas /data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changed=0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carte vault"/>
          <p:cNvSpPr/>
          <p:nvPr/>
        </p:nvSpPr>
        <p:spPr>
          <a:xfrm>
            <a:off x="7909560" y="1325880"/>
            <a:ext cx="370332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pastille cadenas"/>
          <p:cNvSpPr/>
          <p:nvPr/>
        </p:nvSpPr>
        <p:spPr>
          <a:xfrm>
            <a:off x="8183880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cadena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0" y="1714500"/>
            <a:ext cx="320040" cy="3200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961120" y="1600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Ansible Vault (AES256)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8183880" y="233172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Mots de passe Administrateur, DSRM, comptes AD et Grafana chiffrés ; vérifiés avant toute modification.</a:t>
            </a:r>
            <a:endParaRPr lang="en-US" sz="1400" dirty="0"/>
          </a:p>
        </p:txBody>
      </p:sp>
      <p:sp>
        <p:nvSpPr>
          <p:cNvPr id="9" name="carte conflit"/>
          <p:cNvSpPr/>
          <p:nvPr/>
        </p:nvSpPr>
        <p:spPr>
          <a:xfrm>
            <a:off x="7909560" y="3703320"/>
            <a:ext cx="3703320" cy="2148840"/>
          </a:xfrm>
          <a:prstGeom prst="roundRect">
            <a:avLst>
              <a:gd name="adj" fmla="val 3404"/>
            </a:avLst>
          </a:prstGeom>
          <a:solidFill>
            <a:srgbClr val="FCEFEF"/>
          </a:solidFill>
          <a:ln w="12700">
            <a:solidFill>
              <a:srgbClr val="FCEF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pastille alerte"/>
          <p:cNvSpPr/>
          <p:nvPr/>
        </p:nvSpPr>
        <p:spPr>
          <a:xfrm>
            <a:off x="8183880" y="393192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icône alert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900" y="409194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961120" y="3977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Défaut trouvé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8183880" y="470916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 DC réenregistrait lui-même son PTR, le playbook le réécrivait : chacun écrasait l'autre. Corrigé, changed=0 stable.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 : une maintenance qui sait s'arrêter</a:t>
            </a:r>
            <a:endParaRPr lang="en-US" sz="3000" dirty="0"/>
          </a:p>
        </p:txBody>
      </p:sp>
      <p:sp>
        <p:nvSpPr>
          <p:cNvPr id="3" name="pastille sablier"/>
          <p:cNvSpPr/>
          <p:nvPr/>
        </p:nvSpPr>
        <p:spPr>
          <a:xfrm>
            <a:off x="548640" y="13258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ône sabli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485900"/>
            <a:ext cx="320040" cy="320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17320" y="134416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Snapshot</a:t>
            </a:r>
            <a:endParaRPr lang="en-US" sz="1500" dirty="0"/>
          </a:p>
        </p:txBody>
      </p:sp>
      <p:sp>
        <p:nvSpPr>
          <p:cNvPr id="6" name="pastille loupe"/>
          <p:cNvSpPr/>
          <p:nvPr/>
        </p:nvSpPr>
        <p:spPr>
          <a:xfrm>
            <a:off x="548640" y="2258568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ône loup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2418588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17320" y="2276856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Pré-contrôles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disque &lt; 85 %, services</a:t>
            </a:r>
            <a:endParaRPr lang="en-US" sz="1500" dirty="0"/>
          </a:p>
        </p:txBody>
      </p:sp>
      <p:sp>
        <p:nvSpPr>
          <p:cNvPr id="9" name="pastille engrenages"/>
          <p:cNvSpPr/>
          <p:nvPr/>
        </p:nvSpPr>
        <p:spPr>
          <a:xfrm>
            <a:off x="548640" y="3191256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ône engrenage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3351276"/>
            <a:ext cx="320040" cy="3200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417320" y="3209544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Mises à jour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sans suppression</a:t>
            </a:r>
            <a:endParaRPr lang="en-US" sz="1500" dirty="0"/>
          </a:p>
        </p:txBody>
      </p:sp>
      <p:sp>
        <p:nvSpPr>
          <p:cNvPr id="12" name="pastille check"/>
          <p:cNvSpPr/>
          <p:nvPr/>
        </p:nvSpPr>
        <p:spPr>
          <a:xfrm>
            <a:off x="548640" y="4123944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cône che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" y="4283964"/>
            <a:ext cx="320040" cy="32004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417320" y="4142232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Post-contrôles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services, HTTP 200</a:t>
            </a:r>
            <a:endParaRPr lang="en-US" sz="1500" dirty="0"/>
          </a:p>
        </p:txBody>
      </p:sp>
      <p:sp>
        <p:nvSpPr>
          <p:cNvPr id="15" name="pastille fichier"/>
          <p:cNvSpPr/>
          <p:nvPr/>
        </p:nvSpPr>
        <p:spPr>
          <a:xfrm>
            <a:off x="548640" y="5056632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ichier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" y="5216652"/>
            <a:ext cx="320040" cy="32004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417320" y="50749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Rapport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par serveur</a:t>
            </a:r>
            <a:endParaRPr lang="en-US" sz="1500" dirty="0"/>
          </a:p>
        </p:txBody>
      </p:sp>
      <p:sp>
        <p:nvSpPr>
          <p:cNvPr id="18" name="carte KB5007651"/>
          <p:cNvSpPr/>
          <p:nvPr/>
        </p:nvSpPr>
        <p:spPr>
          <a:xfrm>
            <a:off x="5760720" y="1325880"/>
            <a:ext cx="5852160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2"/>
          <p:cNvSpPr txBox="1"/>
          <p:nvPr/>
        </p:nvSpPr>
        <p:spPr>
          <a:xfrm>
            <a:off x="6080760" y="15544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Windows Update : la boucle KB5007651</a:t>
            </a:r>
            <a:endParaRPr lang="en-US" sz="2000" dirty="0"/>
          </a:p>
        </p:txBody>
      </p:sp>
      <p:sp>
        <p:nvSpPr>
          <p:cNvPr id="20" name="Text 13"/>
          <p:cNvSpPr txBox="1"/>
          <p:nvPr/>
        </p:nvSpPr>
        <p:spPr>
          <a:xfrm>
            <a:off x="6080760" y="2194560"/>
            <a:ext cx="5303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5 mises à jour installées en 1 h 13, redémarrage du DC — mais la tâche échoue.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KB5007651 est « installée » 3 fois de suite et toujours reproposée.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Diagnostic croisé : historique Windows Update, journal Système, Get-MpComputerStatus.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Décision : exclusion documentée, suivi manuel — passage complet ensuite.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 : collecter, visualiser, alerter</a:t>
            </a:r>
            <a:endParaRPr lang="en-US" sz="3000" dirty="0"/>
          </a:p>
        </p:txBody>
      </p:sp>
      <p:pic>
        <p:nvPicPr>
          <p:cNvPr id="3" name="flux de supervision" descr="/tmp/claude-1000/-home-mahan-Documents-Obsidian-Vault-InfraReady/5dd48d09-7792-4c45-86a2-777ed44444b8/scratchpad/deck/img/02-flux-supervi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1400" y="1188720"/>
            <a:ext cx="7168896" cy="2743200"/>
          </a:xfrm>
          <a:prstGeom prst="rect">
            <a:avLst/>
          </a:prstGeom>
        </p:spPr>
      </p:pic>
      <p:sp>
        <p:nvSpPr>
          <p:cNvPr id="4" name="stat cibles collectées"/>
          <p:cNvSpPr/>
          <p:nvPr/>
        </p:nvSpPr>
        <p:spPr>
          <a:xfrm>
            <a:off x="548640" y="4206240"/>
            <a:ext cx="260604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77240" y="43434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4/4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5120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cibles collectées</a:t>
            </a:r>
            <a:endParaRPr lang="en-US" sz="1500" dirty="0"/>
          </a:p>
        </p:txBody>
      </p:sp>
      <p:sp>
        <p:nvSpPr>
          <p:cNvPr id="7" name="stat métriques Linux · Windows"/>
          <p:cNvSpPr/>
          <p:nvPr/>
        </p:nvSpPr>
        <p:spPr>
          <a:xfrm>
            <a:off x="3355848" y="4206240"/>
            <a:ext cx="260604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3584448" y="43434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1 709 · 3 263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3584448" y="5120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métriques Linux · Windows</a:t>
            </a:r>
            <a:endParaRPr lang="en-US" sz="1500" dirty="0"/>
          </a:p>
        </p:txBody>
      </p:sp>
      <p:sp>
        <p:nvSpPr>
          <p:cNvPr id="10" name="stat InstanceDown en firing"/>
          <p:cNvSpPr/>
          <p:nvPr/>
        </p:nvSpPr>
        <p:spPr>
          <a:xfrm>
            <a:off x="6163056" y="4206240"/>
            <a:ext cx="260604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391656" y="43434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s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6391656" y="5120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InstanceDown en firing</a:t>
            </a:r>
            <a:endParaRPr lang="en-US" sz="1500" dirty="0"/>
          </a:p>
        </p:txBody>
      </p:sp>
      <p:sp>
        <p:nvSpPr>
          <p:cNvPr id="13" name="stat pour revenir à la normale"/>
          <p:cNvSpPr/>
          <p:nvPr/>
        </p:nvSpPr>
        <p:spPr>
          <a:xfrm>
            <a:off x="8970264" y="4206240"/>
            <a:ext cx="260604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9198864" y="43434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s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9198864" y="5120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pour revenir à la normale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G : chaque changement validé avant d'entrer dans main</a:t>
            </a:r>
            <a:endParaRPr lang="en-US" sz="3000" dirty="0"/>
          </a:p>
        </p:txBody>
      </p:sp>
      <p:pic>
        <p:nvPicPr>
          <p:cNvPr id="3" name="capture GitHub Actions" descr="/tmp/claude-1000/-home-mahan-Documents-Obsidian-Vault-InfraReady/5dd48d09-7792-4c45-86a2-777ed44444b8/scratchpad/deck/img/P-64-github-actions-runs-verts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05370"/>
            <a:ext cx="5852160" cy="4430140"/>
          </a:xfrm>
          <a:prstGeom prst="rect">
            <a:avLst/>
          </a:prstGeom>
        </p:spPr>
      </p:pic>
      <p:sp>
        <p:nvSpPr>
          <p:cNvPr id="4" name="pastille check"/>
          <p:cNvSpPr/>
          <p:nvPr/>
        </p:nvSpPr>
        <p:spPr>
          <a:xfrm>
            <a:off x="6766560" y="141732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5" name="icône che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554480"/>
            <a:ext cx="274320" cy="2743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498080" y="1371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Arborescence attendue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7498080" y="17556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les livrables sont présents</a:t>
            </a:r>
            <a:endParaRPr lang="en-US" sz="1400" dirty="0"/>
          </a:p>
        </p:txBody>
      </p:sp>
      <p:sp>
        <p:nvSpPr>
          <p:cNvPr id="8" name="pastille check"/>
          <p:cNvSpPr/>
          <p:nvPr/>
        </p:nvSpPr>
        <p:spPr>
          <a:xfrm>
            <a:off x="6766560" y="2404872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9" name="icône che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2542032"/>
            <a:ext cx="274320" cy="2743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498080" y="23591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YAML + Ansible</a:t>
            </a:r>
            <a:endParaRPr lang="en-US" sz="1700" dirty="0"/>
          </a:p>
        </p:txBody>
      </p:sp>
      <p:sp>
        <p:nvSpPr>
          <p:cNvPr id="11" name="Text 6"/>
          <p:cNvSpPr txBox="1"/>
          <p:nvPr/>
        </p:nvSpPr>
        <p:spPr>
          <a:xfrm>
            <a:off x="7498080" y="27432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yamllint, syntax-check, ansible-lint</a:t>
            </a:r>
            <a:endParaRPr lang="en-US" sz="1400" dirty="0"/>
          </a:p>
        </p:txBody>
      </p:sp>
      <p:sp>
        <p:nvSpPr>
          <p:cNvPr id="12" name="pastille check"/>
          <p:cNvSpPr/>
          <p:nvPr/>
        </p:nvSpPr>
        <p:spPr>
          <a:xfrm>
            <a:off x="6766560" y="3392424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3" name="icône che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3529584"/>
            <a:ext cx="274320" cy="27432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498080" y="33467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Prometheus + Grafana</a:t>
            </a:r>
            <a:endParaRPr lang="en-US" sz="1700" dirty="0"/>
          </a:p>
        </p:txBody>
      </p:sp>
      <p:sp>
        <p:nvSpPr>
          <p:cNvPr id="15" name="Text 9"/>
          <p:cNvSpPr txBox="1"/>
          <p:nvPr/>
        </p:nvSpPr>
        <p:spPr>
          <a:xfrm>
            <a:off x="7498080" y="373075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promtool, JSON du dashboard</a:t>
            </a:r>
            <a:endParaRPr lang="en-US" sz="1400" dirty="0"/>
          </a:p>
        </p:txBody>
      </p:sp>
      <p:sp>
        <p:nvSpPr>
          <p:cNvPr id="16" name="pastille check"/>
          <p:cNvSpPr/>
          <p:nvPr/>
        </p:nvSpPr>
        <p:spPr>
          <a:xfrm>
            <a:off x="6766560" y="4379976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7" name="icône check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0" y="4517136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498080" y="433425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Aucun secret en clair</a:t>
            </a:r>
            <a:endParaRPr lang="en-US" sz="1700" dirty="0"/>
          </a:p>
        </p:txBody>
      </p:sp>
      <p:sp>
        <p:nvSpPr>
          <p:cNvPr id="19" name="Text 12"/>
          <p:cNvSpPr txBox="1"/>
          <p:nvPr/>
        </p:nvSpPr>
        <p:spPr>
          <a:xfrm>
            <a:off x="7498080" y="471830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gitleaks sur tout l'historique</a:t>
            </a:r>
            <a:endParaRPr lang="en-US" sz="1400" dirty="0"/>
          </a:p>
        </p:txBody>
      </p:sp>
      <p:sp>
        <p:nvSpPr>
          <p:cNvPr id="20" name="Text 13"/>
          <p:cNvSpPr txBox="1"/>
          <p:nvPr/>
        </p:nvSpPr>
        <p:spPr>
          <a:xfrm>
            <a:off x="6766560" y="53492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Limite assumée : la CI valide les fichiers mais ne déploie pas — le réseau du labo est privé.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 : un incident nginx, de la panne au retour à la normale</a:t>
            </a:r>
            <a:endParaRPr lang="en-US" sz="3000" dirty="0"/>
          </a:p>
        </p:txBody>
      </p:sp>
      <p:sp>
        <p:nvSpPr>
          <p:cNvPr id="3" name="frise"/>
          <p:cNvSpPr/>
          <p:nvPr/>
        </p:nvSpPr>
        <p:spPr>
          <a:xfrm>
            <a:off x="822960" y="2377440"/>
            <a:ext cx="10545775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4" name="jalon 19:27:22"/>
          <p:cNvSpPr/>
          <p:nvPr/>
        </p:nvSpPr>
        <p:spPr>
          <a:xfrm>
            <a:off x="1261872" y="2212848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19:27:22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root du site modifié, nginx -t OK</a:t>
            </a:r>
            <a:endParaRPr lang="en-US" sz="1400" dirty="0"/>
          </a:p>
        </p:txBody>
      </p:sp>
      <p:sp>
        <p:nvSpPr>
          <p:cNvPr id="7" name="jalon 19:27:27"/>
          <p:cNvSpPr/>
          <p:nvPr/>
        </p:nvSpPr>
        <p:spPr>
          <a:xfrm>
            <a:off x="3145536" y="2212848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32304" y="16002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19:27:27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2432304" y="274320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HTTP 404 constaté depuis OPS01</a:t>
            </a:r>
            <a:endParaRPr lang="en-US" sz="1400" dirty="0"/>
          </a:p>
        </p:txBody>
      </p:sp>
      <p:sp>
        <p:nvSpPr>
          <p:cNvPr id="10" name="jalon 19:27:51"/>
          <p:cNvSpPr/>
          <p:nvPr/>
        </p:nvSpPr>
        <p:spPr>
          <a:xfrm>
            <a:off x="5029200" y="2212848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15968" y="16002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19:27:51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315968" y="274320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Cause : nginx -T montre le mauvais root</a:t>
            </a:r>
            <a:endParaRPr lang="en-US" sz="1400" dirty="0"/>
          </a:p>
        </p:txBody>
      </p:sp>
      <p:sp>
        <p:nvSpPr>
          <p:cNvPr id="13" name="jalon 19:28:20"/>
          <p:cNvSpPr/>
          <p:nvPr/>
        </p:nvSpPr>
        <p:spPr>
          <a:xfrm>
            <a:off x="6912864" y="2212848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99632" y="16002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19:28:20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199632" y="274320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1re correction : fichier restauré, toujours 404</a:t>
            </a:r>
            <a:endParaRPr lang="en-US" sz="1400" dirty="0"/>
          </a:p>
        </p:txBody>
      </p:sp>
      <p:sp>
        <p:nvSpPr>
          <p:cNvPr id="16" name="jalon 19:30"/>
          <p:cNvSpPr/>
          <p:nvPr/>
        </p:nvSpPr>
        <p:spPr>
          <a:xfrm>
            <a:off x="8796528" y="221284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83296" y="16002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19:30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083296" y="274320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flush_handlers ajouté au playbook</a:t>
            </a:r>
            <a:endParaRPr lang="en-US" sz="1400" dirty="0"/>
          </a:p>
        </p:txBody>
      </p:sp>
      <p:sp>
        <p:nvSpPr>
          <p:cNvPr id="19" name="jalon 19:31"/>
          <p:cNvSpPr/>
          <p:nvPr/>
        </p:nvSpPr>
        <p:spPr>
          <a:xfrm>
            <a:off x="10680192" y="2212848"/>
            <a:ext cx="329184" cy="329184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966960" y="16002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19:31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9966960" y="274320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HTTP 200, 2e passage changed=0</a:t>
            </a:r>
            <a:endParaRPr lang="en-US" sz="1400" dirty="0"/>
          </a:p>
        </p:txBody>
      </p:sp>
      <p:sp>
        <p:nvSpPr>
          <p:cNvPr id="22" name="carte leçon"/>
          <p:cNvSpPr/>
          <p:nvPr/>
        </p:nvSpPr>
        <p:spPr>
          <a:xfrm>
            <a:off x="548640" y="4160520"/>
            <a:ext cx="11094415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pastille loupe"/>
          <p:cNvSpPr/>
          <p:nvPr/>
        </p:nvSpPr>
        <p:spPr>
          <a:xfrm>
            <a:off x="868680" y="45262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4" name="icône loup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4709160"/>
            <a:ext cx="365760" cy="36576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874520" y="4343400"/>
            <a:ext cx="94484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Le défaut était dans notre playbook 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le test HTTP échouait avant la fin du play, et Ansible n'exécute les gestionnaires (rechargement de nginx) qu'en fin de play. L'incident a été reproduit une seconde fois pour prouver que le playbook corrigé suffit.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286000" y="251460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Séances 4 et 6 — exploitation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286000" y="35204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Pannes contrôlées, supervision, contrôle de santé, incident réel</a:t>
            </a:r>
            <a:endParaRPr lang="en-US" sz="1800" dirty="0"/>
          </a:p>
        </p:txBody>
      </p:sp>
      <p:sp>
        <p:nvSpPr>
          <p:cNvPr id="4" name="pastille cloche"/>
          <p:cNvSpPr/>
          <p:nvPr/>
        </p:nvSpPr>
        <p:spPr>
          <a:xfrm>
            <a:off x="548640" y="2606040"/>
            <a:ext cx="1371600" cy="13716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ône cloch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2948940"/>
            <a:ext cx="685800" cy="685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Séance 4 : six pannes contrôlées, une à la fois</a:t>
            </a:r>
            <a:endParaRPr lang="en-US" sz="3000" dirty="0"/>
          </a:p>
        </p:txBody>
      </p:sp>
      <p:sp>
        <p:nvSpPr>
          <p:cNvPr id="3" name="scénario 1"/>
          <p:cNvSpPr/>
          <p:nvPr/>
        </p:nvSpPr>
        <p:spPr>
          <a:xfrm>
            <a:off x="548640" y="1325880"/>
            <a:ext cx="352044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numéro 1"/>
          <p:cNvSpPr/>
          <p:nvPr/>
        </p:nvSpPr>
        <p:spPr>
          <a:xfrm>
            <a:off x="777240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58191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Variable incorrecte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860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HTTP 200 mais mauvais message publié</a:t>
            </a:r>
            <a:endParaRPr lang="en-US" sz="1500" dirty="0"/>
          </a:p>
        </p:txBody>
      </p:sp>
      <p:sp>
        <p:nvSpPr>
          <p:cNvPr id="8" name="scénario 2"/>
          <p:cNvSpPr/>
          <p:nvPr/>
        </p:nvSpPr>
        <p:spPr>
          <a:xfrm>
            <a:off x="4297680" y="1325880"/>
            <a:ext cx="352044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numéro 2"/>
          <p:cNvSpPr/>
          <p:nvPr/>
        </p:nvSpPr>
        <p:spPr>
          <a:xfrm>
            <a:off x="4526280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158191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Variable Jinja2 inexistante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2860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Tâche en échec, ancienne page servie</a:t>
            </a:r>
            <a:endParaRPr lang="en-US" sz="1500" dirty="0"/>
          </a:p>
        </p:txBody>
      </p:sp>
      <p:sp>
        <p:nvSpPr>
          <p:cNvPr id="13" name="scénario 3"/>
          <p:cNvSpPr/>
          <p:nvPr/>
        </p:nvSpPr>
        <p:spPr>
          <a:xfrm>
            <a:off x="8046720" y="1325880"/>
            <a:ext cx="352044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numéro 3"/>
          <p:cNvSpPr/>
          <p:nvPr/>
        </p:nvSpPr>
        <p:spPr>
          <a:xfrm>
            <a:off x="8275320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0" y="158191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Mauvaise destination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2860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Fichier écrit dans /tmp, page inchangée</a:t>
            </a:r>
            <a:endParaRPr lang="en-US" sz="1500" dirty="0"/>
          </a:p>
        </p:txBody>
      </p:sp>
      <p:sp>
        <p:nvSpPr>
          <p:cNvPr id="18" name="scénario 4"/>
          <p:cNvSpPr/>
          <p:nvPr/>
        </p:nvSpPr>
        <p:spPr>
          <a:xfrm>
            <a:off x="548640" y="3383280"/>
            <a:ext cx="352044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numéro 4"/>
          <p:cNvSpPr/>
          <p:nvPr/>
        </p:nvSpPr>
        <p:spPr>
          <a:xfrm>
            <a:off x="777240" y="3611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363931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Gestionnaire non notifié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3434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Fichier modifié, nginx pas rechargé</a:t>
            </a:r>
            <a:endParaRPr lang="en-US" sz="1500" dirty="0"/>
          </a:p>
        </p:txBody>
      </p:sp>
      <p:sp>
        <p:nvSpPr>
          <p:cNvPr id="23" name="scénario 5"/>
          <p:cNvSpPr/>
          <p:nvPr/>
        </p:nvSpPr>
        <p:spPr>
          <a:xfrm>
            <a:off x="4297680" y="3383280"/>
            <a:ext cx="352044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numéro 5"/>
          <p:cNvSpPr/>
          <p:nvPr/>
        </p:nvSpPr>
        <p:spPr>
          <a:xfrm>
            <a:off x="4526280" y="3611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26280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5212080" y="363931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nginx arrêté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43434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check-nginx.sh renvoie 1, redémarrage</a:t>
            </a:r>
            <a:endParaRPr lang="en-US" sz="1500" dirty="0"/>
          </a:p>
        </p:txBody>
      </p:sp>
      <p:sp>
        <p:nvSpPr>
          <p:cNvPr id="28" name="scénario 6"/>
          <p:cNvSpPr/>
          <p:nvPr/>
        </p:nvSpPr>
        <p:spPr>
          <a:xfrm>
            <a:off x="8046720" y="3383280"/>
            <a:ext cx="352044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numéro 6"/>
          <p:cNvSpPr/>
          <p:nvPr/>
        </p:nvSpPr>
        <p:spPr>
          <a:xfrm>
            <a:off x="8275320" y="3611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75320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6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8961120" y="363931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Contenu incomplet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43434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HTTP 200, l'assertion de contenu échoue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5321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Leçon : un code HTTP 200 ne prouve pas que le bon contenu est publié — d'où le contrôle de contenu ajouté au playbook.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Séance 6 : distinguer « donnée absente » et « zéro »</a:t>
            </a:r>
            <a:endParaRPr lang="en-US" sz="3000" dirty="0"/>
          </a:p>
        </p:txBody>
      </p:sp>
      <p:pic>
        <p:nvPicPr>
          <p:cNvPr id="3" name="capture dashboard v3" descr="/tmp/claude-1000/-home-mahan-Documents-Obsidian-Vault-InfraReady/5dd48d09-7792-4c45-86a2-777ed44444b8/scratchpad/deck/img/P-85-grafana-dashboard-v3-exploitation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42441"/>
            <a:ext cx="6949440" cy="4647438"/>
          </a:xfrm>
          <a:prstGeom prst="rect">
            <a:avLst/>
          </a:prstGeom>
        </p:spPr>
      </p:pic>
      <p:sp>
        <p:nvSpPr>
          <p:cNvPr id="4" name="pastille loupe"/>
          <p:cNvSpPr/>
          <p:nvPr/>
        </p:nvSpPr>
        <p:spPr>
          <a:xfrm>
            <a:off x="7818120" y="13258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ône loup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6710" y="1474470"/>
            <a:ext cx="297180" cy="2971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595360" y="130759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État initial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8595360" y="17373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 écarts relevés avant toute modification, dont 2 défauts réels corrigés par Ansible</a:t>
            </a:r>
            <a:endParaRPr lang="en-US" sz="1400" dirty="0"/>
          </a:p>
        </p:txBody>
      </p:sp>
      <p:sp>
        <p:nvSpPr>
          <p:cNvPr id="8" name="pastille courbe"/>
          <p:cNvSpPr/>
          <p:nvPr/>
        </p:nvSpPr>
        <p:spPr>
          <a:xfrm>
            <a:off x="7818120" y="28803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cône courb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6710" y="3028950"/>
            <a:ext cx="297180" cy="29718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595360" y="2862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9 panneaux décrits</a:t>
            </a:r>
            <a:endParaRPr lang="en-US" sz="1700" dirty="0"/>
          </a:p>
        </p:txBody>
      </p:sp>
      <p:sp>
        <p:nvSpPr>
          <p:cNvPr id="11" name="Text 6"/>
          <p:cNvSpPr txBox="1"/>
          <p:nvPr/>
        </p:nvSpPr>
        <p:spPr>
          <a:xfrm>
            <a:off x="8595360" y="32918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Chaque panneau dit ce qu'il permet de décider, avec ses unités</a:t>
            </a:r>
            <a:endParaRPr lang="en-US" sz="1400" dirty="0"/>
          </a:p>
        </p:txBody>
      </p:sp>
      <p:sp>
        <p:nvSpPr>
          <p:cNvPr id="12" name="pastille alerte"/>
          <p:cNvSpPr/>
          <p:nvPr/>
        </p:nvSpPr>
        <p:spPr>
          <a:xfrm>
            <a:off x="7818120" y="443484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icône alert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6710" y="4583430"/>
            <a:ext cx="297180" cy="29718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595360" y="441655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NON COLLECTÉ ≠ 0</a:t>
            </a:r>
            <a:endParaRPr lang="en-US" sz="1700" dirty="0"/>
          </a:p>
        </p:txBody>
      </p:sp>
      <p:sp>
        <p:nvSpPr>
          <p:cNvPr id="15" name="Text 9"/>
          <p:cNvSpPr txBox="1"/>
          <p:nvPr/>
        </p:nvSpPr>
        <p:spPr>
          <a:xfrm>
            <a:off x="8595360" y="48463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Labo éteint = trou dans la courbe, pas une valeur nulle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Séance 6 : le site surveillé, deux alertes testées</a:t>
            </a:r>
            <a:endParaRPr lang="en-US" sz="3000" dirty="0"/>
          </a:p>
        </p:txBody>
      </p:sp>
      <p:pic>
        <p:nvPicPr>
          <p:cNvPr id="3" name="capture dashboard en échec" descr="/tmp/claude-1000/-home-mahan-Documents-Obsidian-Vault-InfraReady/5dd48d09-7792-4c45-86a2-777ed44444b8/scratchpad/deck/img/P-84-grafana-dashboard-site-en-echec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43013"/>
            <a:ext cx="6400800" cy="428053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5778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Vue figée à 09:29:40 : contrôle en ÉCHEC, serveur toujours EN LIGNE (P-84)</a:t>
            </a:r>
            <a:endParaRPr lang="en-US" sz="1100" dirty="0"/>
          </a:p>
        </p:txBody>
      </p:sp>
      <p:sp>
        <p:nvSpPr>
          <p:cNvPr id="5" name="alerte SiteWebIndisponible"/>
          <p:cNvSpPr/>
          <p:nvPr/>
        </p:nvSpPr>
        <p:spPr>
          <a:xfrm>
            <a:off x="7223760" y="1234440"/>
            <a:ext cx="438912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pastille cloche"/>
          <p:cNvSpPr/>
          <p:nvPr/>
        </p:nvSpPr>
        <p:spPr>
          <a:xfrm>
            <a:off x="7452360" y="146304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" name="icône cloch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60020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183880" y="1508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SiteWebIndisponible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7452360" y="214884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Test : nginx arrêté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firing à +3 min 08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résolue 27 s après</a:t>
            </a:r>
            <a:endParaRPr lang="en-US" sz="1500" dirty="0"/>
          </a:p>
        </p:txBody>
      </p:sp>
      <p:sp>
        <p:nvSpPr>
          <p:cNvPr id="10" name="alerte ControlePlanifieEnRetard"/>
          <p:cNvSpPr/>
          <p:nvPr/>
        </p:nvSpPr>
        <p:spPr>
          <a:xfrm>
            <a:off x="7223760" y="3474720"/>
            <a:ext cx="438912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pastille cloche"/>
          <p:cNvSpPr/>
          <p:nvPr/>
        </p:nvSpPr>
        <p:spPr>
          <a:xfrm>
            <a:off x="7452360" y="37033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cône cloch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384048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183880" y="3749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ControlePlanifieEnRetard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7452360" y="438912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Test : timer arrêté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firing après 10 min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résolue en 11 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Séance 6 : un incident réel — le DC arrêté brutalement</a:t>
            </a:r>
            <a:endParaRPr lang="en-US" sz="3000" dirty="0"/>
          </a:p>
        </p:txBody>
      </p:sp>
      <p:sp>
        <p:nvSpPr>
          <p:cNvPr id="3" name="étape Symptôme"/>
          <p:cNvSpPr/>
          <p:nvPr/>
        </p:nvSpPr>
        <p:spPr>
          <a:xfrm>
            <a:off x="548640" y="1280160"/>
            <a:ext cx="512064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53312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Symptôme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2240280" y="1353312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Événements 41 et 6008 au démarrage du DC</a:t>
            </a:r>
            <a:endParaRPr lang="en-US" sz="1400" dirty="0"/>
          </a:p>
        </p:txBody>
      </p:sp>
      <p:sp>
        <p:nvSpPr>
          <p:cNvPr id="6" name="flèche diag 0"/>
          <p:cNvSpPr/>
          <p:nvPr/>
        </p:nvSpPr>
        <p:spPr>
          <a:xfrm>
            <a:off x="2971800" y="2029968"/>
            <a:ext cx="274320" cy="164592"/>
          </a:xfrm>
          <a:prstGeom prst="down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étape Hyperviseur"/>
          <p:cNvSpPr/>
          <p:nvPr/>
        </p:nvSpPr>
        <p:spPr>
          <a:xfrm>
            <a:off x="548640" y="2194560"/>
            <a:ext cx="512064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267712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Hyperviseur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240280" y="2267712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VM 100 : 183 s puis SIGTERM ; VM Linux : 9 s</a:t>
            </a:r>
            <a:endParaRPr lang="en-US" sz="1400" dirty="0"/>
          </a:p>
        </p:txBody>
      </p:sp>
      <p:sp>
        <p:nvSpPr>
          <p:cNvPr id="10" name="flèche diag 1"/>
          <p:cNvSpPr/>
          <p:nvPr/>
        </p:nvSpPr>
        <p:spPr>
          <a:xfrm>
            <a:off x="2971800" y="2944368"/>
            <a:ext cx="274320" cy="164592"/>
          </a:xfrm>
          <a:prstGeom prst="down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étape Hypothèse"/>
          <p:cNvSpPr/>
          <p:nvPr/>
        </p:nvSpPr>
        <p:spPr>
          <a:xfrm>
            <a:off x="548640" y="3108960"/>
            <a:ext cx="512064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182112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Hypothèse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240280" y="3182112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ACPI ignoré sans session ouverte</a:t>
            </a:r>
            <a:endParaRPr lang="en-US" sz="1400" dirty="0"/>
          </a:p>
        </p:txBody>
      </p:sp>
      <p:sp>
        <p:nvSpPr>
          <p:cNvPr id="14" name="flèche diag 2"/>
          <p:cNvSpPr/>
          <p:nvPr/>
        </p:nvSpPr>
        <p:spPr>
          <a:xfrm>
            <a:off x="2971800" y="3858768"/>
            <a:ext cx="274320" cy="164592"/>
          </a:xfrm>
          <a:prstGeom prst="down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étape Observation"/>
          <p:cNvSpPr/>
          <p:nvPr/>
        </p:nvSpPr>
        <p:spPr>
          <a:xfrm>
            <a:off x="548640" y="4023360"/>
            <a:ext cx="512064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096512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Observation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240280" y="4096512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ShutdownWithoutLogon = 0</a:t>
            </a:r>
            <a:endParaRPr lang="en-US" sz="1400" dirty="0"/>
          </a:p>
        </p:txBody>
      </p:sp>
      <p:sp>
        <p:nvSpPr>
          <p:cNvPr id="18" name="flèche diag 3"/>
          <p:cNvSpPr/>
          <p:nvPr/>
        </p:nvSpPr>
        <p:spPr>
          <a:xfrm>
            <a:off x="2971800" y="4773168"/>
            <a:ext cx="274320" cy="164592"/>
          </a:xfrm>
          <a:prstGeom prst="down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étape Reproduction"/>
          <p:cNvSpPr/>
          <p:nvPr/>
        </p:nvSpPr>
        <p:spPr>
          <a:xfrm>
            <a:off x="548640" y="4937760"/>
            <a:ext cx="512064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5010912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Reproduction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2240280" y="5010912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Arrêt demandé sans forcer : délai dépassé</a:t>
            </a:r>
            <a:endParaRPr lang="en-US" sz="1400" dirty="0"/>
          </a:p>
        </p:txBody>
      </p:sp>
      <p:pic>
        <p:nvPicPr>
          <p:cNvPr id="22" name="rendu journal Proxmox" descr="/tmp/claude-1000/-home-mahan-Documents-Obsidian-Vault-InfraReady/5dd48d09-7792-4c45-86a2-777ed44444b8/scratchpad/deck/img/P-86-rendu-proxmox-arrets-vm100-reprodu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437941"/>
            <a:ext cx="5577840" cy="2061877"/>
          </a:xfrm>
          <a:prstGeom prst="rect">
            <a:avLst/>
          </a:prstGeom>
        </p:spPr>
      </p:pic>
      <p:sp>
        <p:nvSpPr>
          <p:cNvPr id="23" name="carte correction"/>
          <p:cNvSpPr/>
          <p:nvPr/>
        </p:nvSpPr>
        <p:spPr>
          <a:xfrm>
            <a:off x="6035040" y="3977640"/>
            <a:ext cx="5577840" cy="1874520"/>
          </a:xfrm>
          <a:prstGeom prst="roundRect">
            <a:avLst>
              <a:gd name="adj" fmla="val 3902"/>
            </a:avLst>
          </a:prstGeom>
          <a:solidFill>
            <a:srgbClr val="FFF5E6"/>
          </a:solidFill>
          <a:ln w="12700">
            <a:solidFill>
              <a:srgbClr val="FFF5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pastille sablier"/>
          <p:cNvSpPr/>
          <p:nvPr/>
        </p:nvSpPr>
        <p:spPr>
          <a:xfrm>
            <a:off x="6309360" y="42062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icône sablie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380" y="4366260"/>
            <a:ext cx="320040" cy="32004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7132320" y="42245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Correction prête, pas appliquée</a:t>
            </a:r>
            <a:endParaRPr lang="en-US" sz="1700" dirty="0"/>
          </a:p>
        </p:txBody>
      </p:sp>
      <p:sp>
        <p:nvSpPr>
          <p:cNvPr id="27" name="Text 23"/>
          <p:cNvSpPr txBox="1"/>
          <p:nvPr/>
        </p:nvSpPr>
        <p:spPr>
          <a:xfrm>
            <a:off x="6309360" y="489204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ShutdownWithoutLogon = 1 via windows_base.yml. Elle touche le DC partagé : elle attend la validation de l'équipe.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Séance 6 : contrôle de santé, maintenance encadrée, quotas</a:t>
            </a:r>
            <a:endParaRPr lang="en-US" sz="3000" dirty="0"/>
          </a:p>
        </p:txBody>
      </p:sp>
      <p:pic>
        <p:nvPicPr>
          <p:cNvPr id="3" name="rendu contrôle de santé" descr="/tmp/claude-1000/-home-mahan-Documents-Obsidian-Vault-InfraReady/5dd48d09-7792-4c45-86a2-777ed44444b8/scratchpad/deck/img/P-82-rendu-tableau-controle-san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5740" y="1188720"/>
            <a:ext cx="6540215" cy="3017520"/>
          </a:xfrm>
          <a:prstGeom prst="rect">
            <a:avLst/>
          </a:prstGeom>
        </p:spPr>
      </p:pic>
      <p:sp>
        <p:nvSpPr>
          <p:cNvPr id="4" name="carte controle_sante.yml"/>
          <p:cNvSpPr/>
          <p:nvPr/>
        </p:nvSpPr>
        <p:spPr>
          <a:xfrm>
            <a:off x="548640" y="4434840"/>
            <a:ext cx="35204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pastille check"/>
          <p:cNvSpPr/>
          <p:nvPr/>
        </p:nvSpPr>
        <p:spPr>
          <a:xfrm>
            <a:off x="777240" y="461772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6" name="icône che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754880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4617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controle_sante.yml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5257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23 OK · 0 ECHEC · lecture seule, code 2 en cas d'échec</a:t>
            </a:r>
            <a:endParaRPr lang="en-US" sz="1400" dirty="0"/>
          </a:p>
        </p:txBody>
      </p:sp>
      <p:sp>
        <p:nvSpPr>
          <p:cNvPr id="9" name="carte Maintenance LINUX01"/>
          <p:cNvSpPr/>
          <p:nvPr/>
        </p:nvSpPr>
        <p:spPr>
          <a:xfrm>
            <a:off x="4297680" y="4434840"/>
            <a:ext cx="35204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pastille engrenages"/>
          <p:cNvSpPr/>
          <p:nvPr/>
        </p:nvSpPr>
        <p:spPr>
          <a:xfrm>
            <a:off x="4526280" y="4617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ône engrenage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475488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12080" y="4617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Maintenance LINUX01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4526280" y="5257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 paquets installés, aucun écart avant / après</a:t>
            </a:r>
            <a:endParaRPr lang="en-US" sz="1400" dirty="0"/>
          </a:p>
        </p:txBody>
      </p:sp>
      <p:sp>
        <p:nvSpPr>
          <p:cNvPr id="14" name="carte Quotas sur /data"/>
          <p:cNvSpPr/>
          <p:nvPr/>
        </p:nvSpPr>
        <p:spPr>
          <a:xfrm>
            <a:off x="8046720" y="4434840"/>
            <a:ext cx="35204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pastille disque"/>
          <p:cNvSpPr/>
          <p:nvPr/>
        </p:nvSpPr>
        <p:spPr>
          <a:xfrm>
            <a:off x="8275320" y="461772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6" name="icône disqu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475488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961120" y="4617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Quotas sur /data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8275320" y="5257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alice bloquée à 250 Mio, bruno non affecté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286000" y="251460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Bilan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286000" y="35204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Ce que nous avons appris, ce qui reste ouvert</a:t>
            </a:r>
            <a:endParaRPr lang="en-US" sz="1800" dirty="0"/>
          </a:p>
        </p:txBody>
      </p:sp>
      <p:sp>
        <p:nvSpPr>
          <p:cNvPr id="4" name="pastille check"/>
          <p:cNvSpPr/>
          <p:nvPr/>
        </p:nvSpPr>
        <p:spPr>
          <a:xfrm>
            <a:off x="548640" y="2606040"/>
            <a:ext cx="1371600" cy="13716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ône che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2948940"/>
            <a:ext cx="685800" cy="685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Ce que nous avons appris</a:t>
            </a:r>
            <a:endParaRPr lang="en-US" sz="3000" dirty="0"/>
          </a:p>
        </p:txBody>
      </p:sp>
      <p:sp>
        <p:nvSpPr>
          <p:cNvPr id="3" name="enseignement Environnement"/>
          <p:cNvSpPr/>
          <p:nvPr/>
        </p:nvSpPr>
        <p:spPr>
          <a:xfrm>
            <a:off x="548640" y="1371600"/>
            <a:ext cx="53949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pastille reseau"/>
          <p:cNvSpPr/>
          <p:nvPr/>
        </p:nvSpPr>
        <p:spPr>
          <a:xfrm>
            <a:off x="822960" y="16459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ône reseau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288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6916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Environnement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22402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Vérifier la plateforme réelle avant de dérouler la procédure prévue</a:t>
            </a:r>
            <a:endParaRPr lang="en-US" sz="1600" dirty="0"/>
          </a:p>
        </p:txBody>
      </p:sp>
      <p:sp>
        <p:nvSpPr>
          <p:cNvPr id="8" name="enseignement Idempotence"/>
          <p:cNvSpPr/>
          <p:nvPr/>
        </p:nvSpPr>
        <p:spPr>
          <a:xfrm>
            <a:off x="6172200" y="1371600"/>
            <a:ext cx="53949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pastille robot"/>
          <p:cNvSpPr/>
          <p:nvPr/>
        </p:nvSpPr>
        <p:spPr>
          <a:xfrm>
            <a:off x="6446520" y="16459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ône robo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8288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06640" y="16916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Idempotence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406640" y="22402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 second passage est un test : il révèle les conflits entre l'automatisation et le système</a:t>
            </a:r>
            <a:endParaRPr lang="en-US" sz="1600" dirty="0"/>
          </a:p>
        </p:txBody>
      </p:sp>
      <p:sp>
        <p:nvSpPr>
          <p:cNvPr id="13" name="enseignement Vérifications"/>
          <p:cNvSpPr/>
          <p:nvPr/>
        </p:nvSpPr>
        <p:spPr>
          <a:xfrm>
            <a:off x="548640" y="3657600"/>
            <a:ext cx="53949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pastille loupe"/>
          <p:cNvSpPr/>
          <p:nvPr/>
        </p:nvSpPr>
        <p:spPr>
          <a:xfrm>
            <a:off x="822960" y="39319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ône loup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11480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783080" y="39776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Vérifications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1783080" y="45262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Une vérification doit échouer quand elle ne vérifie rien — tester aussi le cas négatif</a:t>
            </a:r>
            <a:endParaRPr lang="en-US" sz="1600" dirty="0"/>
          </a:p>
        </p:txBody>
      </p:sp>
      <p:sp>
        <p:nvSpPr>
          <p:cNvPr id="18" name="enseignement Preuves"/>
          <p:cNvSpPr/>
          <p:nvPr/>
        </p:nvSpPr>
        <p:spPr>
          <a:xfrm>
            <a:off x="6172200" y="3657600"/>
            <a:ext cx="53949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pastille fichier"/>
          <p:cNvSpPr/>
          <p:nvPr/>
        </p:nvSpPr>
        <p:spPr>
          <a:xfrm>
            <a:off x="6446520" y="39319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ône fichier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411480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06640" y="39776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Preuves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7406640" y="45262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Garder les échecs : ils expliquent les décisions mieux que les réussites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Limites et points ouverts</a:t>
            </a:r>
            <a:endParaRPr lang="en-US" sz="3000" dirty="0"/>
          </a:p>
        </p:txBody>
      </p:sp>
      <p:sp>
        <p:nvSpPr>
          <p:cNvPr id="3" name="carte Limites connues"/>
          <p:cNvSpPr/>
          <p:nvPr/>
        </p:nvSpPr>
        <p:spPr>
          <a:xfrm>
            <a:off x="548640" y="1325880"/>
            <a:ext cx="5394960" cy="4526280"/>
          </a:xfrm>
          <a:prstGeom prst="roundRect">
            <a:avLst>
              <a:gd name="adj" fmla="val 16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pastille bouclier"/>
          <p:cNvSpPr/>
          <p:nvPr/>
        </p:nvSpPr>
        <p:spPr>
          <a:xfrm>
            <a:off x="822960" y="155448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cône boucli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7145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2763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connues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423160"/>
            <a:ext cx="4800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WinRM en HTTP, Prometheus et Grafana sans TLS (labo isolé)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Pas d'Alertmanager : aucune notification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Supervision sur le même hôte que les serveurs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KB5007651 exclue, à suivre à la main</a:t>
            </a:r>
            <a:endParaRPr lang="en-US" sz="1600" dirty="0"/>
          </a:p>
        </p:txBody>
      </p:sp>
      <p:sp>
        <p:nvSpPr>
          <p:cNvPr id="8" name="carte Points ouverts"/>
          <p:cNvSpPr/>
          <p:nvPr/>
        </p:nvSpPr>
        <p:spPr>
          <a:xfrm>
            <a:off x="6172200" y="1325880"/>
            <a:ext cx="5394960" cy="4526280"/>
          </a:xfrm>
          <a:prstGeom prst="roundRect">
            <a:avLst>
              <a:gd name="adj" fmla="val 16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pastille sablier"/>
          <p:cNvSpPr/>
          <p:nvPr/>
        </p:nvSpPr>
        <p:spPr>
          <a:xfrm>
            <a:off x="6446520" y="15544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ône sablie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540" y="171450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69480" y="162763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Points ouverts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2423160"/>
            <a:ext cx="4800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Correction du DC (UC-05) : en attente de validation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Bilans individuels à rédiger par chaque membre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Commits de Kenzi Bendjelloul à ajouter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Proxmox au lieu de VMware : à faire valider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Un laboratoire décrit par son dépôt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2461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Reproductible, observable, vérifiable — et prêt à être étendu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Perspectives : supervision hors de l'hôte · WinRM HTTPS et TLS · centralisation des journaux · alerte prédictive sur le disque · Ubuntu dans le domaine AD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Rapport complet : InfraReady-Rapport-final.pdf · dépôt github.com/jolanallen/InfraReady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fraReady">
  <a:themeElements>
    <a:clrScheme name="InfraReady">
      <a:dk1>
        <a:srgbClr val="1B1F24"/>
      </a:dk1>
      <a:lt1>
        <a:srgbClr val="FFFFFF"/>
      </a:lt1>
      <a:dk2>
        <a:srgbClr val="0E2A47"/>
      </a:dk2>
      <a:lt2>
        <a:srgbClr val="EEF3F8"/>
      </a:lt2>
      <a:accent1>
        <a:srgbClr val="0F9D8F"/>
      </a:accent1>
      <a:accent2>
        <a:srgbClr val="E8A33D"/>
      </a:accent2>
      <a:accent3>
        <a:srgbClr val="D64545"/>
      </a:accent3>
      <a:accent4>
        <a:srgbClr val="3B82C4"/>
      </a:accent4>
      <a:accent5>
        <a:srgbClr val="6B7785"/>
      </a:accent5>
      <a:accent6>
        <a:srgbClr val="1E9E5A"/>
      </a:accent6>
      <a:hlink>
        <a:srgbClr val="3B82C4"/>
      </a:hlink>
      <a:folHlink>
        <a:srgbClr val="6B7785"/>
      </a:folHlink>
    </a:clrScheme>
    <a:fontScheme name="InfraRead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B3 Cybersécurité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InfraReady — Soutenance du projet fil rouge</dc:title>
  <dc:subject>Standardiser, automatiser et superviser une infrastructure Linux / Windows</dc:subject>
  <dc:creator>MIR Mahan, Jolan Allen, Kenzi Bendjelloul</dc:creator>
  <cp:lastModifiedBy>MIR Mahan, Jolan Allen, Kenzi Bendjelloul</cp:lastModifiedBy>
  <cp:revision>1</cp:revision>
  <dcterms:created xsi:type="dcterms:W3CDTF">2026-10-23T11:24:47Z</dcterms:created>
  <dcterms:modified xsi:type="dcterms:W3CDTF">2026-10-23T11:24:47Z</dcterms:modified>
</cp:coreProperties>
</file>